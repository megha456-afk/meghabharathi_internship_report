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4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2" r:id="rId22"/>
    <p:sldId id="276" r:id="rId23"/>
    <p:sldId id="277" r:id="rId24"/>
    <p:sldId id="278" r:id="rId25"/>
    <p:sldId id="279" r:id="rId26"/>
    <p:sldId id="280" r:id="rId27"/>
    <p:sldId id="281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7" autoAdjust="0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72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5851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1568447"/>
            <a:ext cx="6801440" cy="19431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5400" b="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3511547"/>
            <a:ext cx="6803136" cy="3429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6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89070" y="1005942"/>
            <a:ext cx="1165860" cy="395410"/>
          </a:xfrm>
        </p:spPr>
        <p:txBody>
          <a:bodyPr/>
          <a:lstStyle>
            <a:lvl1pPr algn="ctr">
              <a:defRPr sz="975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4BDF68E2-58F2-4D09-BE8B-E3BD06533059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090422" y="3908295"/>
            <a:ext cx="4429125" cy="17145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3909060"/>
            <a:ext cx="1583911" cy="1714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116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26220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5850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1570732"/>
            <a:ext cx="6803136" cy="1940814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540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3511547"/>
            <a:ext cx="6803136" cy="3429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effectLst/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91356" y="1008377"/>
            <a:ext cx="1165860" cy="397764"/>
          </a:xfrm>
        </p:spPr>
        <p:txBody>
          <a:bodyPr/>
          <a:lstStyle>
            <a:lvl1pPr algn="ctr">
              <a:defRPr lang="en-US" sz="975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0EBB0C4-6273-4C6E-B9BD-2EDC30F1CD52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0165" y="3908295"/>
            <a:ext cx="4430268" cy="17145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3908295"/>
            <a:ext cx="1584198" cy="17145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02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774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98128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  <a:latin typeface="+mn-lt"/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66924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002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0026" y="2067436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34847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75608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2322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8308"/>
            <a:ext cx="6398514" cy="4786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5544"/>
            <a:ext cx="1823085" cy="1234440"/>
          </a:xfrm>
        </p:spPr>
        <p:txBody>
          <a:bodyPr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457200"/>
            <a:ext cx="5829300" cy="40005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3085" cy="26289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4667252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0011078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2628"/>
            <a:ext cx="1824228" cy="1234440"/>
          </a:xfrm>
        </p:spPr>
        <p:txBody>
          <a:bodyPr anchor="b">
            <a:noAutofit/>
          </a:bodyPr>
          <a:lstStyle>
            <a:lvl1pPr algn="l">
              <a:defRPr sz="21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8308"/>
            <a:ext cx="6398514" cy="4786884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4228" cy="262661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C9CAD897-D46E-4AD2-BD9B-49DD3E640873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685800" rtl="0" eaLnBrk="1" latinLnBrk="0" hangingPunct="1">
              <a:defRPr lang="en-US" sz="75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4670298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1696678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2685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571500"/>
            <a:ext cx="1771650" cy="39433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571500"/>
            <a:ext cx="6057900" cy="39433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46955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074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8308"/>
            <a:ext cx="8791956" cy="478688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77340"/>
            <a:ext cx="75438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5740" y="4730754"/>
            <a:ext cx="205740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17470" y="4730754"/>
            <a:ext cx="390906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4730754"/>
            <a:ext cx="109728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573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36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37160" indent="-137160" algn="l" defTabSz="685800" rtl="0" eaLnBrk="1" latinLnBrk="0" hangingPunct="1">
        <a:lnSpc>
          <a:spcPct val="100000"/>
        </a:lnSpc>
        <a:spcBef>
          <a:spcPts val="675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NetLabs Global IT Services Pvt Ltd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7132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Completion Presentation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29844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Supervisor: Santosh Kumar Jena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4147" y="1737360"/>
            <a:ext cx="7329267" cy="0"/>
          </a:xfrm>
          <a:prstGeom prst="line">
            <a:avLst/>
          </a:prstGeom>
          <a:noFill/>
          <a:ln w="12700">
            <a:solidFill>
              <a:srgbClr val="2E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791" y="2069007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7791" y="2340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7791" y="1799374"/>
            <a:ext cx="3657600" cy="148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by,</a:t>
            </a:r>
          </a:p>
          <a:p>
            <a:pPr marL="0" indent="0">
              <a:buNone/>
            </a:pPr>
            <a:r>
              <a:rPr lang="en-US" sz="1300" b="1" dirty="0" err="1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Megha</a:t>
            </a:r>
            <a:r>
              <a:rPr lang="en-US" sz="1300" b="1" dirty="0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Bharathi</a:t>
            </a:r>
            <a:r>
              <a:rPr lang="en-US" sz="1300" b="1" dirty="0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</a:t>
            </a:r>
            <a:endParaRPr lang="en-US" sz="1300" b="1" dirty="0">
              <a:solidFill>
                <a:srgbClr val="0020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 : </a:t>
            </a:r>
            <a:r>
              <a:rPr lang="en-US" sz="13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102CS23031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 Sem CS Department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 (GOVT) Polytechnic College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Bangalore-560001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984247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06904" y="210276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to,</a:t>
            </a:r>
          </a:p>
          <a:p>
            <a:pPr marL="0" indent="0">
              <a:buNone/>
            </a:pPr>
            <a:r>
              <a:rPr lang="en-US" sz="1300" b="1" dirty="0" err="1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r>
              <a:rPr lang="en-US" sz="1300" b="1" dirty="0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Raghavendra</a:t>
            </a:r>
            <a:r>
              <a:rPr lang="en-US" sz="1300" b="1" dirty="0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MY</a:t>
            </a:r>
            <a:endParaRPr lang="en-US" sz="13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 (GOVT) Polytechnic College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flipV="1">
            <a:off x="654146" y="4707836"/>
            <a:ext cx="7329267" cy="49241"/>
          </a:xfrm>
          <a:prstGeom prst="line">
            <a:avLst/>
          </a:prstGeom>
          <a:noFill/>
          <a:ln w="12700">
            <a:solidFill>
              <a:srgbClr val="2E74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474" y="360273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CS </a:t>
            </a: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7711" y="3924221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Haritha S 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 (GOVT) Polytechnic College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Bangalore-560001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0660"/>
            <a:ext cx="8046720" cy="38142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1.Organization Profile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1.1 Overview of Organization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1.2 Vision and Mission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1.3 Organization Structure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1.4 Roles and Responsibility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1.5 Products and Market Performance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2.On Job Training - I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2.1 OJT – I  GP-SMS Automation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2.2 OJT Learning During Internship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2.3 Technical Skills Applied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2.4 Work Performed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3.Usecase - I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3.1 Usecase - I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3.2 Usecase - I Visual Representation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0729"/>
            <a:ext cx="8046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4.On Job Training – II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4.1 OJT – II  </a:t>
            </a:r>
            <a:r>
              <a:rPr lang="en-US" sz="13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Drought Prediction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4.2 OJT Learning During Internship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4.3 Technical Skills Applied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4.4 Work Performed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5.Usecase - II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5.1 Usecase - II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5.2 Usecase - II Visual Representation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1.ORGANISATION PROFILE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Overview of the Organization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06040" y="100584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NetLabs Global IT Services Private Limited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06040" y="148132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March 2016 (Indian Companies Act)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5681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Supervisor: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6040" y="1956816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Santosh Kumar Jena (Team Manager)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4323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2432304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IT Services, Emerging Technologies, Cybersecurity, Talent Solutions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9077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290779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B-Wing, 5th Floor, Phoenix Towers, No. 16, 16/1, Museum Road, Bangalore – 560001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Office: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338328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10045 Cortez Blvd, Suite 100, Spring Hill, Florida – 34613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8587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Presence: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385876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 in India, USA, and Australia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3342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06040" y="4334256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www.netlabsglobal.com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Vision and Mission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Vision Statement: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create endless possibilities of growth and well-being for all our stakeholders – customers, employees, partners, investors and societies.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Mission Statement: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strive to be a global business transformation enabler by helping our customers adopt smart cutting-edge technologies, smart industry practices and smart people talent solutions to stay ahead of the curve.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Organization Structure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960120"/>
            <a:ext cx="256032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960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/ CEO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Santosh Deshpande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508760"/>
            <a:ext cx="0" cy="27432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783080"/>
            <a:ext cx="73152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783080"/>
            <a:ext cx="0" cy="256032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2039112"/>
            <a:ext cx="1188720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20391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NetLabs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13432" y="1783080"/>
            <a:ext cx="0" cy="256032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19072" y="2039112"/>
            <a:ext cx="1188720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19072" y="20391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Ops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76472" y="1783080"/>
            <a:ext cx="0" cy="256032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2039112"/>
            <a:ext cx="1188720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2112" y="20391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EmTech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39512" y="1783080"/>
            <a:ext cx="0" cy="256032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5152" y="2039112"/>
            <a:ext cx="1188720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20391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02552" y="1783080"/>
            <a:ext cx="0" cy="256032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2039112"/>
            <a:ext cx="1188720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08192" y="20391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65592" y="1783080"/>
            <a:ext cx="0" cy="256032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71232" y="2039112"/>
            <a:ext cx="1188720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1232" y="20391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27249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Departments: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310896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NetLabs &amp; DC Ops: Infrastructure, data center and network operations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Tech (EmTech): RPA, AI, automation and product development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Talent management and employee engagement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Administrative support and facilities management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Budgeting, invoicing and payment processing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Roles &amp; Responsibilities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697480" y="10058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planning, decision-making and stakeholder management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DC Ops: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97480" y="162763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management and data center operations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24942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Tech: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97480" y="224942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RPA, AI, automation and product development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Department: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97480" y="2871216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management and employee engagement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4930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349300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Budgeting, invoicing and payment processing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411480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development and client relationships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Products and Market Performance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Solutions: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X Fusion – Procurement-to-Payment automation platform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&amp; Managed IT Services – End-to-end IT with Smart-Shoring methodology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Resilience &amp; Compliance Solutions – Enterprise security and advisory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Talent-as-a-Service (TaaS) – Source-Train-Deploy model for talent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16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Performance: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8229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customer relationships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technology partners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across BFSI, Healthcare, Education, Manufacturing, Govt &amp; PSU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global and Indian enterprises with long-term partnerships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 in India, USA and Australia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2.On Job Training - I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OJT-I Role: GP-SMS Automation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Role: AI/ML Intern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GP-SMS (General Physician SMS) Automation System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Objective: Automate processing </a:t>
            </a:r>
            <a:r>
              <a:rPr lang="en-US" sz="14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of9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backup data to generate structured reports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Goals: Build backend automation pipeline for data cleaning, deduplication, merging and report generation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Responsibilities: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310128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data processing and pipeline automation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SMS backup data and deduplication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report generation (Excel &amp; PDF)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Assisting automation using Automation Anywhere A360 and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OJT Learning During Internship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875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Concepts: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basics and iterables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tuples, sets, dictionaries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and file handling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9875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Concepts: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and REST API development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request and response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methods: GET, POST, PUT, DELETE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871216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based authentication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based authentication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authentication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4871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Built: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2871216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API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API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 API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APIs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0" cy="320040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Technical Skills Applied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26942"/>
            <a:ext cx="8229600" cy="26587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Programming: Python (data processing, automation, API development)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Processing: Pandas (CSV handling, cleaning), NumPy (matrix operations)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Automation: Automation Anywhere A360 for backend pipeline automation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Backend: REST API development, Flask (HTTP routing), JSON </a:t>
            </a:r>
            <a:r>
              <a:rPr lang="en-US" sz="14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handling, </a:t>
            </a:r>
            <a:r>
              <a:rPr lang="en-US" sz="1400" dirty="0" err="1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Token-based, Session-based, API key authentication flows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Formats: Excel reports (.xlsx), PDF reports, Dashboard visualizations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Work Performed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GP-SMS Workflow: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Data → Cleaning → Merge → Final Data → ML Models → Excel Output → Web Dashboard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3665551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462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reports, PDF reports, Dashboard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4443455" y="2441888"/>
            <a:ext cx="30811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 Doctors Using Clustering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 Anomalies in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Visualize Data Insights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Web Dashboard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User Authentication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Decision-Making 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440634" y="2226445"/>
            <a:ext cx="3881562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 SMS Data Processing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Incremental Data Handling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 with Master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Structured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Machine Learning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 Referral Prediction </a:t>
            </a:r>
          </a:p>
        </p:txBody>
      </p:sp>
      <p:sp>
        <p:nvSpPr>
          <p:cNvPr id="13" name="Shape 10"/>
          <p:cNvSpPr/>
          <p:nvPr/>
        </p:nvSpPr>
        <p:spPr>
          <a:xfrm>
            <a:off x="3935896" y="2226445"/>
            <a:ext cx="0" cy="2014994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3.USECASE - I</a:t>
            </a:r>
            <a:endParaRPr 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Use Case I: GP-SMS Automation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278892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82112" y="960120"/>
            <a:ext cx="278892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82112" y="960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9904" y="960120"/>
            <a:ext cx="278892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9904" y="960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1389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Administrator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17373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Processing Team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20848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AI/ML Intern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55264" y="1389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SMS backup data files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55264" y="17373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Raw CSV/Excel records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55264" y="20848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Configuration parameters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55264" y="243230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and rule settings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63056" y="1389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Cleaned Excel reports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58484" y="1768105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visualizations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63056" y="2187669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notifications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29077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Flow: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3273552"/>
            <a:ext cx="84124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Download SMS backup data from source systems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Clean and filter data — remove invalid and duplicate records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Merge datasets and validate for accuracy and completeness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Auto-generate Excel </a:t>
            </a:r>
            <a:endParaRPr lang="en-US" sz="1250" dirty="0" smtClean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5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 Push results to dashboard and notify stakeholders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Use Case I: Visual Representation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Fig: GP-SMS Final Output – Patient Report Dashboard</a:t>
            </a:r>
            <a:endParaRPr lang="en-US" sz="11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017" y="1178559"/>
            <a:ext cx="5433392" cy="33271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4.On Job Training – II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OJT-II Role: </a:t>
            </a:r>
            <a:r>
              <a:rPr lang="en-US" sz="2400" b="1" dirty="0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Drought Prediction System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Role: AI/ML Intern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 the likelihood of agricultural drought based on climatic and soil conditions using Machine Learning and provide preventive </a:t>
            </a:r>
            <a:r>
              <a:rPr lang="en-US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</a:p>
          <a:p>
            <a:r>
              <a:rPr lang="en-US" sz="14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</a:t>
            </a:r>
            <a:r>
              <a:rPr lang="en-US" sz="14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an ML pipeline that takes environmental parameters (rainfall, temperature, </a:t>
            </a:r>
            <a:r>
              <a:rPr lang="en-US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humidity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soil moisture, and wind speed) as input and predicts drought occurrence with a probability score, along with actionable insights</a:t>
            </a:r>
          </a:p>
        </p:txBody>
      </p:sp>
      <p:sp>
        <p:nvSpPr>
          <p:cNvPr id="5" name="Text 3"/>
          <p:cNvSpPr/>
          <p:nvPr/>
        </p:nvSpPr>
        <p:spPr>
          <a:xfrm>
            <a:off x="597877" y="2766061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Responsibilities: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Development for Invoice Systems (Invoice, Payment, </a:t>
            </a:r>
            <a:r>
              <a:rPr lang="en-US" sz="14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Receipt, </a:t>
            </a:r>
            <a:r>
              <a:rPr lang="en-US" sz="1400" dirty="0" err="1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LedgerAPIs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Data Processing and Merging from multiple files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Model Development for </a:t>
            </a:r>
            <a:r>
              <a:rPr lang="en-US" sz="14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Drought Prediction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Design using HTML &amp; CSS (Login page and Dashboard)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OJT Learning During Internship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System Concepts: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Invoice concepts and business usage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Invoice API, Payment API, Receipt API and </a:t>
            </a:r>
            <a:r>
              <a:rPr lang="en-US" sz="13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 payment amount to an existing invoice and updating the remaining balance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&amp; Data Processing: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852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invoice data into Excel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datasets from multiple files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record matching and validation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7673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Model Development: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29211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  <a:buSzPct val="100000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Trained ML models to predict drought using environmental data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Compared algorithms and selected best model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Achieved high accuracy with probability-based prediction</a:t>
            </a:r>
          </a:p>
          <a:p>
            <a:pPr>
              <a:spcAft>
                <a:spcPts val="400"/>
              </a:spcAft>
              <a:buSzPct val="100000"/>
            </a:pP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94728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Technical Skills Applied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Scikit-learn (Random </a:t>
            </a:r>
            <a:r>
              <a:rPr lang="en-US" sz="14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Forest,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</a:t>
            </a:r>
            <a:r>
              <a:rPr lang="en-US" sz="14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Processing: Pandas (CSV handling, merging), NumPy (numerical operations)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HTML5 (Login page, Dashboard Input Form), CSS3 (Responsive styling)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Flask (HTTP routing, model inference, REST API)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APIs: Invoice API, Payment API, Receipt API, Receivable Transaction API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Processing: Multi-file data extraction, merging and record matching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Work Performed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Drought Prediction </a:t>
            </a:r>
            <a:r>
              <a:rPr lang="en-US" sz="15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229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  <a:buSzPct val="100000"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User logs into the system through an HTML-based login page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Enters environmental parameters: Rainfall, Temperature, Humidity, Soil Moisture, Wind Speed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Machine Learning models (Random Forest &amp; Logistic Regression) process the input data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System predicts drought occurrence along with probability score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Displays visual analytics including doughnut chart (risk level) and bar graph (algorithm comparison)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Provides recommended actions to reduce drought impact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547872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  <a:buSzPct val="100000"/>
            </a:pPr>
            <a:r>
              <a:rPr lang="en-US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Prediction Output: Drought / No Drought based on input conditions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Drought Probability: Percentage risk displayed using chart visualization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Model Performance: Best algorithm selected based on accuracy, precision, recall, and F1-score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System Output: Actionable recommendations for farmers (water conservation, crop planning, soil </a:t>
            </a:r>
            <a:r>
              <a:rPr lang="en-US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management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5.USECASE - II</a:t>
            </a:r>
            <a:endParaRPr lang="en-US" sz="3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Use Case II: </a:t>
            </a:r>
            <a:r>
              <a:rPr lang="en-US" sz="2400" b="1" dirty="0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Drought Prediction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278892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82112" y="960120"/>
            <a:ext cx="278892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82112" y="960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9904" y="960120"/>
            <a:ext cx="278892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9904" y="960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1389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Administrator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17373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Farmer / End User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55264" y="1389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Rainfall(mm)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55264" y="17373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r>
              <a:rPr lang="en-US" sz="1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(°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</a:t>
            </a:r>
            <a:r>
              <a:rPr lang="en-US" sz="1200" dirty="0" smtClean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Humidity(%)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55264" y="20848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Moisture(%), </a:t>
            </a:r>
            <a:r>
              <a:rPr lang="en-US" sz="1200" dirty="0" err="1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Windspeed</a:t>
            </a:r>
            <a:r>
              <a:rPr lang="en-US" sz="12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(km/h)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7103" y="20025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Drought Prediction (Drought / No Drought)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Probability Score (%)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Risk Level (Low / Moderate / Severe)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Recommended Actions (Water conservation, crop planning, etc.)</a:t>
            </a:r>
          </a:p>
        </p:txBody>
      </p:sp>
      <p:sp>
        <p:nvSpPr>
          <p:cNvPr id="16" name="Text 14"/>
          <p:cNvSpPr/>
          <p:nvPr/>
        </p:nvSpPr>
        <p:spPr>
          <a:xfrm>
            <a:off x="6163056" y="17373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63056" y="243230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29077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3273552"/>
            <a:ext cx="84124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Step 1: User logs into system via HTML login page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Step 2: Enters environmental parameters (Rainfall, Temperature, Humidity, Soil Moisture, Wind Speed)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Step 3: Machine Learning models (Random Forest &amp; Logistic Regression) process the inputs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Step 4: System predicts drought with probability score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Step 5: Results displayed — Prediction, Charts, Risk Level, and Recommendations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Use Case II: Visual Representation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Fig: </a:t>
            </a:r>
            <a:r>
              <a:rPr lang="en-US" sz="1100" i="1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Drought Prediction </a:t>
            </a: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– Output Dashboard</a:t>
            </a:r>
            <a:endParaRPr lang="en-US" sz="1100" dirty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93" y="869316"/>
            <a:ext cx="4255477" cy="37755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393" y="868945"/>
            <a:ext cx="3814288" cy="368258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43574" y="439014"/>
            <a:ext cx="16857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</a:t>
            </a:r>
            <a:endParaRPr lang="en-US" dirty="0"/>
          </a:p>
        </p:txBody>
      </p:sp>
      <p:sp>
        <p:nvSpPr>
          <p:cNvPr id="4" name="Shape 1"/>
          <p:cNvSpPr/>
          <p:nvPr/>
        </p:nvSpPr>
        <p:spPr>
          <a:xfrm flipV="1">
            <a:off x="3134138" y="911352"/>
            <a:ext cx="2955235" cy="0"/>
          </a:xfrm>
          <a:prstGeom prst="line">
            <a:avLst/>
          </a:prstGeom>
          <a:noFill/>
          <a:ln w="19050">
            <a:solidFill>
              <a:srgbClr val="2E74B5"/>
            </a:solidFill>
            <a:prstDash val="solid"/>
          </a:ln>
        </p:spPr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012207" y="1018855"/>
            <a:ext cx="6806575" cy="3613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successfully demonstrates the use of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and Automation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solve real-world problems.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integrating models like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and Logistic Regression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 system provides accurate and reliable predictions.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and visualization features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make the results easy to understand and support better decision-making.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Automation of data processing improves efficiency, reduces manual effort, and minimizes errors.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Overall, the project highlights how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can enhance productivity, accuracy, and user experience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practical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20524311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233</TotalTime>
  <Words>1493</Words>
  <Application>Microsoft Office PowerPoint</Application>
  <PresentationFormat>On-screen Show (16:9)</PresentationFormat>
  <Paragraphs>267</Paragraphs>
  <Slides>27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Arial</vt:lpstr>
      <vt:lpstr>Calibri</vt:lpstr>
      <vt:lpstr>Century Gothic</vt:lpstr>
      <vt:lpstr>Garamond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Kavya M</cp:lastModifiedBy>
  <cp:revision>17</cp:revision>
  <dcterms:created xsi:type="dcterms:W3CDTF">2026-04-04T02:17:30Z</dcterms:created>
  <dcterms:modified xsi:type="dcterms:W3CDTF">2026-04-13T08:06:45Z</dcterms:modified>
</cp:coreProperties>
</file>